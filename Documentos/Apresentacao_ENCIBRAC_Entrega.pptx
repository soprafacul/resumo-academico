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c31bce10b94be8" /><Relationship Type="http://schemas.openxmlformats.org/officeDocument/2006/relationships/extended-properties" Target="/docProps/app.xml" Id="R902b6664524e45ee" /><Relationship Type="http://schemas.openxmlformats.org/officeDocument/2006/relationships/officeDocument" Target="/ppt/presentation.xml" Id="Re9ff1beb3d824b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fda2314b9c474a"/>
  </p:sldMasterIdLst>
  <p:notesMasterIdLst>
    <p:notesMasterId xmlns:r="http://schemas.openxmlformats.org/officeDocument/2006/relationships" r:id="R7f7c820d05374022"/>
  </p:notesMasterIdLst>
  <p:sldIdLst>
    <p:sldId xmlns:r="http://schemas.openxmlformats.org/officeDocument/2006/relationships" id="256" r:id="R16175252f3b84dcc"/>
    <p:sldId xmlns:r="http://schemas.openxmlformats.org/officeDocument/2006/relationships" id="257" r:id="R235cd84f009f43b5"/>
    <p:sldId xmlns:r="http://schemas.openxmlformats.org/officeDocument/2006/relationships" id="258" r:id="R3ccd188f90ee436c"/>
    <p:sldId xmlns:r="http://schemas.openxmlformats.org/officeDocument/2006/relationships" id="259" r:id="R2fd8686b51554a10"/>
    <p:sldId xmlns:r="http://schemas.openxmlformats.org/officeDocument/2006/relationships" id="260" r:id="R50414f152dbc453b"/>
    <p:sldId xmlns:r="http://schemas.openxmlformats.org/officeDocument/2006/relationships" id="261" r:id="Rdcf027b1ad2e46d1"/>
    <p:sldId xmlns:r="http://schemas.openxmlformats.org/officeDocument/2006/relationships" id="262" r:id="Rc3a046f1e159498c"/>
    <p:sldId xmlns:r="http://schemas.openxmlformats.org/officeDocument/2006/relationships" id="263" r:id="R0e179d37b6a44739"/>
    <p:sldId xmlns:r="http://schemas.openxmlformats.org/officeDocument/2006/relationships" id="264" r:id="R7d01ed8561a64e7a"/>
    <p:sldId xmlns:r="http://schemas.openxmlformats.org/officeDocument/2006/relationships" id="265" r:id="R6375a8130c424e3e"/>
    <p:sldId xmlns:r="http://schemas.openxmlformats.org/officeDocument/2006/relationships" id="266" r:id="R07914f76ff8e4d7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eb9b39e58044b3" /><Relationship Type="http://schemas.openxmlformats.org/officeDocument/2006/relationships/slideMaster" Target="/ppt/slideMasters/slideMaster1.xml" Id="Rdffda2314b9c474a" /><Relationship Type="http://schemas.openxmlformats.org/officeDocument/2006/relationships/notesMaster" Target="/ppt/notesMasters/notesMaster1.xml" Id="R7f7c820d05374022" /><Relationship Type="http://schemas.openxmlformats.org/officeDocument/2006/relationships/presProps" Target="/ppt/presProps.xml" Id="R847025b0bc754fec" /><Relationship Type="http://schemas.openxmlformats.org/officeDocument/2006/relationships/viewProps" Target="/ppt/viewProps.xml" Id="R7c56ed0b90504331" /><Relationship Type="http://schemas.openxmlformats.org/officeDocument/2006/relationships/tableStyles" Target="/ppt/tableStyles.xml" Id="R439c03906fc94e03" /><Relationship Type="http://schemas.openxmlformats.org/officeDocument/2006/relationships/slide" Target="/ppt/slides/slide1.xml" Id="R16175252f3b84dcc" /><Relationship Type="http://schemas.openxmlformats.org/officeDocument/2006/relationships/slide" Target="/ppt/slides/slide2.xml" Id="R235cd84f009f43b5" /><Relationship Type="http://schemas.openxmlformats.org/officeDocument/2006/relationships/slide" Target="/ppt/slides/slide3.xml" Id="R3ccd188f90ee436c" /><Relationship Type="http://schemas.openxmlformats.org/officeDocument/2006/relationships/slide" Target="/ppt/slides/slide4.xml" Id="R2fd8686b51554a10" /><Relationship Type="http://schemas.openxmlformats.org/officeDocument/2006/relationships/slide" Target="/ppt/slides/slide5.xml" Id="R50414f152dbc453b" /><Relationship Type="http://schemas.openxmlformats.org/officeDocument/2006/relationships/slide" Target="/ppt/slides/slide6.xml" Id="Rdcf027b1ad2e46d1" /><Relationship Type="http://schemas.openxmlformats.org/officeDocument/2006/relationships/slide" Target="/ppt/slides/slide7.xml" Id="Rc3a046f1e159498c" /><Relationship Type="http://schemas.openxmlformats.org/officeDocument/2006/relationships/slide" Target="/ppt/slides/slide8.xml" Id="R0e179d37b6a44739" /><Relationship Type="http://schemas.openxmlformats.org/officeDocument/2006/relationships/slide" Target="/ppt/slides/slide9.xml" Id="R7d01ed8561a64e7a" /><Relationship Type="http://schemas.openxmlformats.org/officeDocument/2006/relationships/slide" Target="/ppt/slides/slide10.xml" Id="R6375a8130c424e3e" /><Relationship Type="http://schemas.openxmlformats.org/officeDocument/2006/relationships/slide" Target="/ppt/slides/slide11.xml" Id="R07914f76ff8e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cfe0e20a9547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601419b33479f" /><Relationship Type="http://schemas.openxmlformats.org/officeDocument/2006/relationships/notesMaster" Target="/ppt/notesMasters/notesMaster1.xml" Id="Rf6c713d007754d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24149140344288" /><Relationship Type="http://schemas.openxmlformats.org/officeDocument/2006/relationships/notesMaster" Target="/ppt/notesMasters/notesMaster1.xml" Id="Rcc57c831646f49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5539ba58b24158" /><Relationship Type="http://schemas.openxmlformats.org/officeDocument/2006/relationships/notesMaster" Target="/ppt/notesMasters/notesMaster1.xml" Id="R987265f21d9d4f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ffd7151d5b4302" /><Relationship Type="http://schemas.openxmlformats.org/officeDocument/2006/relationships/notesMaster" Target="/ppt/notesMasters/notesMaster1.xml" Id="Re83d00eeeb8b42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1092158b9e4ee4" /><Relationship Type="http://schemas.openxmlformats.org/officeDocument/2006/relationships/notesMaster" Target="/ppt/notesMasters/notesMaster1.xml" Id="R0fe6837c60e343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dc32f6180d4b59" /><Relationship Type="http://schemas.openxmlformats.org/officeDocument/2006/relationships/notesMaster" Target="/ppt/notesMasters/notesMaster1.xml" Id="Ra116d21a130d4b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c1dc4c7dc94d5b" /><Relationship Type="http://schemas.openxmlformats.org/officeDocument/2006/relationships/notesMaster" Target="/ppt/notesMasters/notesMaster1.xml" Id="R8b5a311eb8b042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7678f731294064" /><Relationship Type="http://schemas.openxmlformats.org/officeDocument/2006/relationships/notesMaster" Target="/ppt/notesMasters/notesMaster1.xml" Id="Rc6aa6c927b474b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55e59310784abb" /><Relationship Type="http://schemas.openxmlformats.org/officeDocument/2006/relationships/notesMaster" Target="/ppt/notesMasters/notesMaster1.xml" Id="R3e7f8873fb674a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dc61b81cd344ca" /><Relationship Type="http://schemas.openxmlformats.org/officeDocument/2006/relationships/notesMaster" Target="/ppt/notesMasters/notesMaster1.xml" Id="Rff44d1b3ae404b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69f72717194758" /><Relationship Type="http://schemas.openxmlformats.org/officeDocument/2006/relationships/notesMaster" Target="/ppt/notesMasters/notesMaster1.xml" Id="R73ecf3da6a20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Tema: GitHub Copilot e formação profissional: critérios para revisar sugestões de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BARKE, Shraddha; JAMES, Michael B.; POLIKARPOVA, Nadia. Grounded Copilot: How Programmers Interact with Code-Generating Models. Proceedings of the ACM on Programming Languages, v. 7, n. OOPSLA1, art. 78, 27 p., 2023. DOI: https://doi.org/10.1145/3586030.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PEARCE, Hammond; AHMAD, Baleegh; TAN, Benjamin; DOLAN-GAVITT, Brendan; KARRI, Ramesh. Asleep at the Keyboard? Assessing the Security of GitHub Copilot’s Code Contributions. In: 2022 IEEE Symposium on Security and Privacy (SP). IEEE, 2022. p. 754-768. DOI: https://doi.org/10.1109/SP46214.2022.9833571.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VAITHILINGAM, Priyan; ZHANG, Tianyi; GLASSMAN, Elena. Expectation vs. Experience: Evaluating the Usability of Code Generation Tools Powered by Large Language Models. In: CHI Conference on Human Factors in Computing Systems Extended Abstracts. New York: ACM, 2022. 7 p. DOI: https://doi.org/10.1145/3491101.3519665.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Textos completos: https://glassmanlab.seas.harvard.edu/papers/copilot_lbw_chi22.pdf ; https://cseweb.ucsd.edu/~npolikarpova/publications/oopsla23-copilot.pdf ; https://arxiv.org/html/2108.09293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critérios de revisão são uma proposta derivada da leitura, sem intervenção prática avaliada. Os achados referem-se às versões e condições dos estudos.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ad10509014e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3c7a8674343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28b8ea8f04c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a66f665364d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6146ce21440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f6553fdec46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241d4d51b44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fd895910440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9123c201645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3d09a6b9c43a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14ae9f6d54dd8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37B8DC0B-7205-4605-8ADE-8DA0E7211C6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3DE34879-2EA7-473C-8649-98FB7EB9ED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B60633D-40BE-4823-9D70-E90BB7E20D1C}" type="datetimeFigureOut">
              <a:t>22/05/2025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9376E9B-F499-4203-B2B7-B90579D709D2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7F8753B-C3F8-455C-861A-18C765446D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3BD1085A-3ED7-458B-8D3A-28DCC783D8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44E774B-487E-45DD-9EDF-6BED9A23258C}" type="datetimeFigureOut">
              <a:t>22/05/2025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3504699-A3AE-447D-826C-41FBB7146ADA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3A09E0B-C7AF-4E08-A2AB-5E18A6D50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FEFA651D-CD82-4C7E-AE81-D022F0FCA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BE496CB-9C79-4F24-8900-BEAF2F43C272}" type="datetimeFigureOut">
              <a:t>22/05/2025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6E72C3A-DFB6-4362-8AA1-77746B1B40D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1B9A204-EF46-47B7-932B-DCCA658D9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35E85EA9-1832-4E70-A595-660ABE944C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E7DA12E8-60A2-4EA6-9B36-1D6EDE6334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873C6A4-A5A0-4D45-846F-65CCFFEEC21A}" type="datetimeFigureOut">
              <a:t>22/05/2025</a:t>
            </a:fld>
            <a:endParaRPr/>
          </a:p>
        </p:txBody>
      </p:sp>
      <p:sp>
        <p:nvSpPr>
          <p:cNvPr id="6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7E2781E-1EB2-4E16-A791-F5211820C14C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10B83B6-F41E-4368-B93B-80AC2EBE1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AD4047B3-D313-4576-AB20-CDC07A5D85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31E330A6-16B6-4D01-A1D4-0092C0772A9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 xmlns:a="http://schemas.openxmlformats.org/drawingml/2006/main">
              <a:ext uri="{FF2B5EF4-FFF2-40B4-BE49-F238E27FC236}">
                <a16:creationId xmlns:a16="http://schemas.microsoft.com/office/drawing/2014/main" id="{89AC671C-419E-4506-A283-DCF476D137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 xmlns:a="http://schemas.openxmlformats.org/drawingml/2006/main">
              <a:ext uri="{FF2B5EF4-FFF2-40B4-BE49-F238E27FC236}">
                <a16:creationId xmlns:a16="http://schemas.microsoft.com/office/drawing/2014/main" id="{60CFF6BA-98C0-4DAE-A25B-0E6B6CAD90E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C22D825-50E8-407D-964F-390DD4A6EBBE}" type="datetimeFigureOut">
              <a:t>22/05/2025</a:t>
            </a:fld>
            <a:endParaRPr/>
          </a:p>
        </p:txBody>
      </p:sp>
      <p:sp>
        <p:nvSpPr>
          <p:cNvPr id="8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A2693F5-9C85-43CB-B7E0-FB01AAC861D4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393EB28B-78A9-42FD-9734-CF3AA9D64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DB099B0-8A28-4091-9FCE-463505D2C396}" type="datetimeFigureOut">
              <a:t>22/05/2025</a:t>
            </a:fld>
            <a:endParaRPr/>
          </a:p>
        </p:txBody>
      </p:sp>
      <p:sp>
        <p:nvSpPr>
          <p:cNvPr id="4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29D1B0F8-74DD-4CFD-9ECB-AEA8D334A809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C7A9671-140B-4CAD-94EE-9C8FE680A172}" type="datetimeFigureOut">
              <a:t>22/05/2025</a:t>
            </a:fld>
            <a:endParaRPr/>
          </a:p>
        </p:txBody>
      </p:sp>
      <p:sp>
        <p:nvSpPr>
          <p:cNvPr id="3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673105E-A30B-4646-AAA3-D14AC42A7546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E771224-81A8-45E1-9460-9F4856AEC7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E1BC94DF-6534-4C46-8A96-F9260D93B0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E44F46AF-9B85-4082-BE98-F2AA23F02F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962EE6E-4B83-4D73-9FEE-DE8B52599F73}" type="datetimeFigureOut">
              <a:t>22/05/2025</a:t>
            </a:fld>
            <a:endParaRPr/>
          </a:p>
        </p:txBody>
      </p:sp>
      <p:sp>
        <p:nvSpPr>
          <p:cNvPr id="6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8B0A42F-E3C1-4FE4-BAB8-FE2E13519CFD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917A0CA-3335-4A5C-A176-342F50BCA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42D223BA-BE5F-4EE5-9889-16938B1BF0E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36D3301-255C-445D-8171-51E7A21900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5D17BCC-C147-4A22-9D3F-1A183D22AB45}" type="datetimeFigureOut">
              <a:t>22/05/2025</a:t>
            </a:fld>
            <a:endParaRPr/>
          </a:p>
        </p:txBody>
      </p:sp>
      <p:sp>
        <p:nvSpPr>
          <p:cNvPr id="6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7984595-D2D9-4499-BBBF-2895162EC21B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9632760-0BC4-4AD4-B6D6-97B5AAAE3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E24EF747-C329-4DFF-95C5-557B400AA4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3C92DF3-17FE-4197-A72D-5EC4B2ABA984}" type="datetimeFigureOut">
              <a:t>22/05/2025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59F0D61-2AED-4ECA-9E41-BCE1FB0F7CE2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E52E470B-6849-42D4-A8D0-100B2F556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B12A8A0A-BCBF-466E-A8E8-774DED233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1FADCA3-6B48-42C4-B0DF-65A35F6686A5}" type="datetimeFigureOut">
              <a:t>22/05/2025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6654256-EFD0-4C01-8578-2EF66A3C4349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56e06a9094a73" /><Relationship Type="http://schemas.openxmlformats.org/officeDocument/2006/relationships/slideLayout" Target="/ppt/slideLayouts/slideLayout1.xml" Id="R349ee23a57af4f4b" /><Relationship Type="http://schemas.openxmlformats.org/officeDocument/2006/relationships/slideLayout" Target="/ppt/slideLayouts/slideLayout2.xml" Id="Rf358e7f1d16242f6" /><Relationship Type="http://schemas.openxmlformats.org/officeDocument/2006/relationships/slideLayout" Target="/ppt/slideLayouts/slideLayout3.xml" Id="R4e9b3244ea4d4c28" /><Relationship Type="http://schemas.openxmlformats.org/officeDocument/2006/relationships/slideLayout" Target="/ppt/slideLayouts/slideLayout4.xml" Id="R9e4d4c5522e74e26" /><Relationship Type="http://schemas.openxmlformats.org/officeDocument/2006/relationships/slideLayout" Target="/ppt/slideLayouts/slideLayout5.xml" Id="R3a8f0ec7c9ac42c8" /><Relationship Type="http://schemas.openxmlformats.org/officeDocument/2006/relationships/slideLayout" Target="/ppt/slideLayouts/slideLayout6.xml" Id="R1bee8bf1f7fe443e" /><Relationship Type="http://schemas.openxmlformats.org/officeDocument/2006/relationships/slideLayout" Target="/ppt/slideLayouts/slideLayout7.xml" Id="R80e6fe71f950412d" /><Relationship Type="http://schemas.openxmlformats.org/officeDocument/2006/relationships/slideLayout" Target="/ppt/slideLayouts/slideLayout8.xml" Id="R7a46b8ac6a144c6f" /><Relationship Type="http://schemas.openxmlformats.org/officeDocument/2006/relationships/slideLayout" Target="/ppt/slideLayouts/slideLayout9.xml" Id="R60479f3dae7342cb" /><Relationship Type="http://schemas.openxmlformats.org/officeDocument/2006/relationships/slideLayout" Target="/ppt/slideLayouts/slideLayout10.xml" Id="R71508c0ef5ca425b" /><Relationship Type="http://schemas.openxmlformats.org/officeDocument/2006/relationships/slideLayout" Target="/ppt/slideLayouts/slideLayout11.xml" Id="R143dcd0db50548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 título Mestre</a:t>
            </a:r>
          </a:p>
        </p:txBody>
      </p:sp>
      <p:sp>
        <p:nvSpPr>
          <p:cNvPr id="1027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10998AB7-6241-4527-818B-1F510D3FF9C9}" type="datetimeFigureOut">
              <a:t>22/05/2025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06AE7DB-D177-4AFD-9C5A-47E4B8C97508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9ee23a57af4f4b"/>
    <p:sldLayoutId xmlns:r="http://schemas.openxmlformats.org/officeDocument/2006/relationships" id="2147483650" r:id="Rf358e7f1d16242f6"/>
    <p:sldLayoutId xmlns:r="http://schemas.openxmlformats.org/officeDocument/2006/relationships" id="2147483651" r:id="R4e9b3244ea4d4c28"/>
    <p:sldLayoutId xmlns:r="http://schemas.openxmlformats.org/officeDocument/2006/relationships" id="2147483652" r:id="R9e4d4c5522e74e26"/>
    <p:sldLayoutId xmlns:r="http://schemas.openxmlformats.org/officeDocument/2006/relationships" id="2147483653" r:id="R3a8f0ec7c9ac42c8"/>
    <p:sldLayoutId xmlns:r="http://schemas.openxmlformats.org/officeDocument/2006/relationships" id="2147483654" r:id="R1bee8bf1f7fe443e"/>
    <p:sldLayoutId xmlns:r="http://schemas.openxmlformats.org/officeDocument/2006/relationships" id="2147483655" r:id="R80e6fe71f950412d"/>
    <p:sldLayoutId xmlns:r="http://schemas.openxmlformats.org/officeDocument/2006/relationships" id="2147483656" r:id="R7a46b8ac6a144c6f"/>
    <p:sldLayoutId xmlns:r="http://schemas.openxmlformats.org/officeDocument/2006/relationships" id="2147483657" r:id="R60479f3dae7342cb"/>
    <p:sldLayoutId xmlns:r="http://schemas.openxmlformats.org/officeDocument/2006/relationships" id="2147483658" r:id="R71508c0ef5ca425b"/>
    <p:sldLayoutId xmlns:r="http://schemas.openxmlformats.org/officeDocument/2006/relationships" id="2147483659" r:id="R143dcd0db5054843"/>
  </p:sldLayoutIdLst>
  <p:txStyles>
    <p:titleStyle>
      <a:lvl1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81d794e7b4ca2" /><Relationship Type="http://schemas.openxmlformats.org/officeDocument/2006/relationships/image" Target="/ppt/media/image.png" Id="R9fb6c913152040d9" /><Relationship Type="http://schemas.openxmlformats.org/officeDocument/2006/relationships/image" Target="/ppt/media/image2.png" Id="R3ce3d81fe1bb4af0" /><Relationship Type="http://schemas.openxmlformats.org/officeDocument/2006/relationships/notesSlide" Target="/ppt/notesSlides/notesSlide1.xml" Id="R48068a2c44f94b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8a0c04ed7c4c13" /><Relationship Type="http://schemas.openxmlformats.org/officeDocument/2006/relationships/image" Target="/ppt/media/image3.png" Id="R6bac23a855ae46bb" /><Relationship Type="http://schemas.openxmlformats.org/officeDocument/2006/relationships/image" Target="/ppt/media/image4.png" Id="Ra6507740d3a744f7" /><Relationship Type="http://schemas.openxmlformats.org/officeDocument/2006/relationships/notesSlide" Target="/ppt/notesSlides/notesSlide2.xml" Id="Rd90f52561a3940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5aa1efc3a49eb" /><Relationship Type="http://schemas.openxmlformats.org/officeDocument/2006/relationships/image" Target="/ppt/media/image5.png" Id="R6f23220db7484dc8" /><Relationship Type="http://schemas.openxmlformats.org/officeDocument/2006/relationships/image" Target="/ppt/media/image4.png" Id="Ra2b66f5313bf4f3c" /><Relationship Type="http://schemas.openxmlformats.org/officeDocument/2006/relationships/notesSlide" Target="/ppt/notesSlides/notesSlide3.xml" Id="Rb80060b0186443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66ec2257384872" /><Relationship Type="http://schemas.openxmlformats.org/officeDocument/2006/relationships/image" Target="/ppt/media/image5.png" Id="R1adc6910534d443d" /><Relationship Type="http://schemas.openxmlformats.org/officeDocument/2006/relationships/image" Target="/ppt/media/image4.png" Id="R51421c86cd56453c" /><Relationship Type="http://schemas.openxmlformats.org/officeDocument/2006/relationships/notesSlide" Target="/ppt/notesSlides/notesSlide4.xml" Id="R0b5f63513b2442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3bf21740d64526" /><Relationship Type="http://schemas.openxmlformats.org/officeDocument/2006/relationships/image" Target="/ppt/media/image5.png" Id="R9a5ac4fb4f0d44f3" /><Relationship Type="http://schemas.openxmlformats.org/officeDocument/2006/relationships/image" Target="/ppt/media/image4.png" Id="R03799f09150e4c9c" /><Relationship Type="http://schemas.openxmlformats.org/officeDocument/2006/relationships/notesSlide" Target="/ppt/notesSlides/notesSlide5.xml" Id="R2c93834985db4b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be970fc163498b" /><Relationship Type="http://schemas.openxmlformats.org/officeDocument/2006/relationships/image" Target="/ppt/media/image5.png" Id="Rb7afcdd0c3e54586" /><Relationship Type="http://schemas.openxmlformats.org/officeDocument/2006/relationships/image" Target="/ppt/media/image4.png" Id="R57294f87ca0f4f2e" /><Relationship Type="http://schemas.openxmlformats.org/officeDocument/2006/relationships/notesSlide" Target="/ppt/notesSlides/notesSlide6.xml" Id="R8c0501d1bb5c40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92faeb79a74fd8" /><Relationship Type="http://schemas.openxmlformats.org/officeDocument/2006/relationships/image" Target="/ppt/media/image5.png" Id="R2bbc5c628e7c4837" /><Relationship Type="http://schemas.openxmlformats.org/officeDocument/2006/relationships/image" Target="/ppt/media/image4.png" Id="Ra302d4ddcc6d4eab" /><Relationship Type="http://schemas.openxmlformats.org/officeDocument/2006/relationships/notesSlide" Target="/ppt/notesSlides/notesSlide7.xml" Id="R3c41cac0dfe643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84efdcb44d4d14" /><Relationship Type="http://schemas.openxmlformats.org/officeDocument/2006/relationships/image" Target="/ppt/media/image5.png" Id="R075d4fd3bd854a4a" /><Relationship Type="http://schemas.openxmlformats.org/officeDocument/2006/relationships/image" Target="/ppt/media/image4.png" Id="Rd3c7a9f7e8524a34" /><Relationship Type="http://schemas.openxmlformats.org/officeDocument/2006/relationships/notesSlide" Target="/ppt/notesSlides/notesSlide8.xml" Id="Ra997e5164ca44a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4d22b425714cd8" /><Relationship Type="http://schemas.openxmlformats.org/officeDocument/2006/relationships/image" Target="/ppt/media/image5.png" Id="Rb473ad30e4b34e03" /><Relationship Type="http://schemas.openxmlformats.org/officeDocument/2006/relationships/image" Target="/ppt/media/image4.png" Id="Rcd4283b219c84ab5" /><Relationship Type="http://schemas.openxmlformats.org/officeDocument/2006/relationships/notesSlide" Target="/ppt/notesSlides/notesSlide9.xml" Id="R7e85a9ed489448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692ba5d6347b2" /><Relationship Type="http://schemas.openxmlformats.org/officeDocument/2006/relationships/image" Target="/ppt/media/image6.png" Id="Rc4c92863b1d14058" /><Relationship Type="http://schemas.openxmlformats.org/officeDocument/2006/relationships/notesSlide" Target="/ppt/notesSlides/notesSlide10.xml" Id="Re82ed18cfdea4c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89911617dd4131" /><Relationship Type="http://schemas.openxmlformats.org/officeDocument/2006/relationships/image" Target="/ppt/media/image7.png" Id="R8a885b2364db45b1" /><Relationship Type="http://schemas.openxmlformats.org/officeDocument/2006/relationships/image" Target="/ppt/media/image2.png" Id="R85dca73556ff4d0d" /><Relationship Type="http://schemas.openxmlformats.org/officeDocument/2006/relationships/notesSlide" Target="/ppt/notesSlides/notesSlide11.xml" Id="Rba3e4bcfd9eb4e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0" name="Título 1">
            <a:extLst xmlns:a="http://schemas.openxmlformats.org/drawingml/2006/main"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51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52" name="Imagem 4">
            <a:extLst xmlns:a="http://schemas.openxmlformats.org/drawingml/2006/main">
              <a:ext uri="{FF2B5EF4-FFF2-40B4-BE49-F238E27FC236}">
                <a16:creationId xmlns:a16="http://schemas.microsoft.com/office/drawing/2014/main" id="{DD122915-EB88-492D-B8DB-4B2433D5D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6c913152040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53" name="Imagem 8">
            <a:extLst xmlns:a="http://schemas.openxmlformats.org/drawingml/2006/main">
              <a:ext uri="{FF2B5EF4-FFF2-40B4-BE49-F238E27FC236}">
                <a16:creationId xmlns:a16="http://schemas.microsoft.com/office/drawing/2014/main" id="{6048D656-EDCE-425D-A417-AEA75BFAF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3d81fe1bb4a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1638" y="2763837"/>
            <a:ext cx="4433887" cy="1330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513898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Título 1">
            <a:extLst xmlns:a="http://schemas.openxmlformats.org/drawingml/2006/main"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75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FEFE7FC8-22DC-4EC3-8846-E1402F5A9609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6bac23a855ae46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</p:spPr>
      </p:pic>
      <p:sp>
        <p:nvSpPr>
          <p:cNvPr id="3076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25" y="2844800"/>
            <a:ext cx="4262438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ct val="50000"/>
              </a:spcBef>
              <a:buNone/>
            </a:pPr>
            <a:r>
              <a:rPr sz="30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GITHUB COPILOT</a:t>
            </a:r>
          </a:p>
        </p:txBody>
      </p:sp>
      <p:sp>
        <p:nvSpPr>
          <p:cNvPr id="8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75" y="2237462"/>
            <a:ext cx="3234906" cy="1958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12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Profa. Isabella Luiza dos</a:t>
            </a:r>
          </a:p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12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Santos Souza, especialista</a:t>
            </a:r>
            <a:endParaRPr sz="1200" b="1">
              <a:solidFill>
                <a:srgbClr val="153553"/>
              </a:solidFill>
              <a:latin typeface="Verdana"/>
              <a:ea typeface="Verdana"/>
              <a:cs typeface="Verdana"/>
            </a:endParaRPr>
          </a:p>
          <a:p xmlns:a="http://schemas.openxmlformats.org/drawingml/2006/main">
            <a:pPr>
              <a:spcBef>
                <a:spcPct val="50000"/>
              </a:spcBef>
              <a:buNone/>
            </a:pPr>
            <a:r>
              <a:t/>
            </a:r>
            <a:endParaRPr sz="1200">
              <a:solidFill>
                <a:srgbClr val="153553"/>
              </a:solidFill>
              <a:latin typeface="Verdana"/>
              <a:ea typeface="Verdana"/>
              <a:cs typeface="Verdana"/>
            </a:endParaRPr>
          </a:p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1200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José Kailon Teixeira da Silva</a:t>
            </a:r>
          </a:p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1200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/>
            </a:r>
          </a:p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1200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Carlos Henrique Nunes</a:t>
            </a:r>
          </a:p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1200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Ferreira Barbosa</a:t>
            </a:r>
          </a:p>
        </p:txBody>
      </p:sp>
      <p:sp>
        <p:nvSpPr>
          <p:cNvPr id="9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277" y="5962650"/>
            <a:ext cx="3045143" cy="505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/>
            </a:defPPr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ct val="50000"/>
              </a:spcBef>
              <a:buNone/>
              <a:defRPr sz="1125"/>
            </a:pPr>
            <a:r>
              <a:rPr sz="1125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ANÁLISE E DESENVOLVIMENTO</a:t>
            </a:r>
          </a:p>
          <a:p xmlns:a="http://schemas.openxmlformats.org/drawingml/2006/main">
            <a:pPr algn="ctr">
              <a:spcBef>
                <a:spcPct val="50000"/>
              </a:spcBef>
              <a:buNone/>
              <a:defRPr sz="1125"/>
            </a:pPr>
            <a:r>
              <a:rPr sz="1125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DE SISTEMAS</a:t>
            </a:r>
          </a:p>
        </p:txBody>
      </p:sp>
      <p:sp>
        <p:nvSpPr>
          <p:cNvPr id="10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22453"/>
            <a:ext cx="3981450" cy="459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000"/>
            </a:defPPr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spcBef>
                <a:spcPct val="50000"/>
              </a:spcBef>
              <a:buNone/>
              <a:defRPr sz="1000"/>
            </a:pPr>
            <a:r>
              <a:rPr sz="1000" b="1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GitHub Copilot. Formação profissional.</a:t>
            </a:r>
          </a:p>
          <a:p xmlns:a="http://schemas.openxmlformats.org/drawingml/2006/main">
            <a:pPr algn="r">
              <a:spcBef>
                <a:spcPct val="50000"/>
              </a:spcBef>
              <a:buNone/>
              <a:defRPr sz="1000"/>
            </a:pPr>
            <a:r>
              <a:rPr sz="1000" b="1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Revisão de código.</a:t>
            </a:r>
          </a:p>
        </p:txBody>
      </p:sp>
      <p:pic>
        <p:nvPicPr>
          <p:cNvPr id="15" name="Imagem 6">
            <a:extLst xmlns:a="http://schemas.openxmlformats.org/drawingml/2006/main">
              <a:ext uri="{FF2B5EF4-FFF2-40B4-BE49-F238E27FC236}">
                <a16:creationId xmlns:a16="http://schemas.microsoft.com/office/drawing/2014/main" id="{8C33C1BC-8F16-425F-9ACB-5008D4678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7740d3a744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8344" y="5931073"/>
            <a:ext cx="1341438" cy="403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4BB2AA0B-4681-42A5-85BB-BAB25B0C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847" y="5254109"/>
            <a:ext cx="83058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50000"/>
              </a:spcBef>
              <a:buNone/>
            </a:pPr>
            <a:r>
              <a:rPr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70198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Título 1">
            <a:extLst xmlns:a="http://schemas.openxmlformats.org/drawingml/2006/main"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99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5B948BCD-1911-4C51-BFD1-535282B2ACEB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6f23220db7484d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0" y="0"/>
            <a:ext cx="12192000" cy="6858000"/>
          </a:xfrm>
        </p:spPr>
      </p:pic>
      <p:sp>
        <p:nvSpPr>
          <p:cNvPr id="410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0" y="1984376"/>
            <a:ext cx="6130925" cy="36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Como os benefícios e os limites do Copilot podem orientar a revisão de código?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Na formação profissional, o estudante precisa justificar as sugestões que incorpora ao projeto.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Tema: critérios para revisar sugestões de código.</a:t>
            </a:r>
          </a:p>
        </p:txBody>
      </p:sp>
      <p:pic>
        <p:nvPicPr>
          <p:cNvPr id="8" name="Imagem 6">
            <a:extLst xmlns:a="http://schemas.openxmlformats.org/drawingml/2006/main">
              <a:ext uri="{FF2B5EF4-FFF2-40B4-BE49-F238E27FC236}">
                <a16:creationId xmlns:a16="http://schemas.microsoft.com/office/drawing/2014/main" id="{56A8B550-AB10-4A3C-AF5B-BDA0DCC5B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66f5313bf4f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625" y="6030912"/>
            <a:ext cx="1341438" cy="403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0" y="606425"/>
            <a:ext cx="4262438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30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840955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Título 1">
            <a:extLst xmlns:a="http://schemas.openxmlformats.org/drawingml/2006/main"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99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337C9273-59B6-4BCA-BD4C-AD639B97D81B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1adc6910534d44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0" y="0"/>
            <a:ext cx="12192000" cy="6858000"/>
          </a:xfrm>
        </p:spPr>
      </p:pic>
      <p:sp>
        <p:nvSpPr>
          <p:cNvPr id="410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0" y="1984376"/>
            <a:ext cx="6130925" cy="36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Objetivo geral: discutir critérios para revisar as sugestões do GitHub Copilot.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Comparar estudos sobre uso e segurança.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Distinguir preferência, desempenho e qualidade.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Relacionar os achados à formação profissional.</a:t>
            </a:r>
          </a:p>
        </p:txBody>
      </p:sp>
      <p:pic>
        <p:nvPicPr>
          <p:cNvPr id="8" name="Imagem 6">
            <a:extLst xmlns:a="http://schemas.openxmlformats.org/drawingml/2006/main">
              <a:ext uri="{FF2B5EF4-FFF2-40B4-BE49-F238E27FC236}">
                <a16:creationId xmlns:a16="http://schemas.microsoft.com/office/drawing/2014/main" id="{986A8241-12C9-477E-BE6D-26D263A0D5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21c86cd5645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625" y="6030912"/>
            <a:ext cx="1341438" cy="403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Box 9">
            <a:extLst xmlns:a="http://schemas.openxmlformats.org/drawingml/2006/main"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0" y="606425"/>
            <a:ext cx="4262438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30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Título 1">
            <a:extLst xmlns:a="http://schemas.openxmlformats.org/drawingml/2006/main"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99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C4846A69-1F52-489B-869F-99C8AC516C08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9a5ac4fb4f0d44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</p:spPr>
      </p:pic>
      <p:pic>
        <p:nvPicPr>
          <p:cNvPr id="8" name="Imagem 6">
            <a:extLst xmlns:a="http://schemas.openxmlformats.org/drawingml/2006/main">
              <a:ext uri="{FF2B5EF4-FFF2-40B4-BE49-F238E27FC236}">
                <a16:creationId xmlns:a16="http://schemas.microsoft.com/office/drawing/2014/main" id="{5FCC2AD8-CDF3-46DE-A754-3CD3ED32B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99f09150e4c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2550" y="6030911"/>
            <a:ext cx="1341438" cy="403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067" y="777875"/>
            <a:ext cx="5283202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spcBef>
                <a:spcPct val="50000"/>
              </a:spcBef>
              <a:buNone/>
              <a:defRPr sz="3000" b="1">
                <a:solidFill>
                  <a:srgbClr val="153553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buNone/>
              <a:defRPr/>
            </a:lvl2pPr>
            <a:lvl3pPr marL="1143000" indent="-228600">
              <a:buNone/>
              <a:defRPr/>
            </a:lvl3pPr>
            <a:lvl4pPr marL="1600200" indent="-228600">
              <a:buNone/>
              <a:defRPr/>
            </a:lvl4pPr>
            <a:lvl5pPr marL="2057400" indent="-228600">
              <a:buNone/>
              <a:defRPr/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/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/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/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/>
            </a:lvl9pPr>
          </a:lstStyle>
          <a:p xmlns:a="http://schemas.openxmlformats.org/drawingml/2006/main">
            <a:r>
              <a:t>METODOLOGIA</a:t>
            </a:r>
          </a:p>
        </p:txBody>
      </p:sp>
      <p:sp>
        <p:nvSpPr>
          <p:cNvPr id="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037" y="2238375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Revisão narrativa, teórica e qualitativa.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Três estudos de 2022 e 2023, com texto completo.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Busca exploratória na web em 15/10/2026.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Comparação de métodos, achados e limitações.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Sem experimento próprio com o Copilot.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D208CD47-860B-496C-A33E-A50EB924C4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fcdd0c3e545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" name="Imagem 6">
            <a:extLst xmlns:a="http://schemas.openxmlformats.org/drawingml/2006/main">
              <a:ext uri="{FF2B5EF4-FFF2-40B4-BE49-F238E27FC236}">
                <a16:creationId xmlns:a16="http://schemas.microsoft.com/office/drawing/2014/main" id="{31305299-8A5F-44AF-BC6B-4AD52552B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94f87ca0f4f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625" y="6030912"/>
            <a:ext cx="1341438" cy="403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0" y="606425"/>
            <a:ext cx="4262438" cy="1015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30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FUNDAMENTAÇÃO TEÓRICA</a:t>
            </a:r>
          </a:p>
        </p:txBody>
      </p:sp>
      <p:sp>
        <p:nvSpPr>
          <p:cNvPr id="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0" y="1984376"/>
            <a:ext cx="6130925" cy="36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Vaithilingam, Zhang e Glassman (2022): 24 participantes; 19 preferiram o Copilot.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Tempo e sucesso das tarefas: diferenças estatisticamente não significativas.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Barke, James e Polikarpova (2023): 20 participantes; aceleração e exploração.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Modos de uso distintos exigem atenção ao que o usuário já sabe sobre a tarefa.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2CC1F9BF-0699-4E1E-8366-8E33961A2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c5c628e7c48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" name="Imagem 6">
            <a:extLst xmlns:a="http://schemas.openxmlformats.org/drawingml/2006/main">
              <a:ext uri="{FF2B5EF4-FFF2-40B4-BE49-F238E27FC236}">
                <a16:creationId xmlns:a16="http://schemas.microsoft.com/office/drawing/2014/main" id="{AAC29198-EA90-427E-A374-C7C90FF6C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2d4ddcc6d4e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625" y="6030912"/>
            <a:ext cx="1341438" cy="403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0" y="606425"/>
            <a:ext cx="4262438" cy="1015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30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FUNDAMENTAÇÃO TEÓRICA</a:t>
            </a:r>
          </a:p>
        </p:txBody>
      </p:sp>
      <p:sp>
        <p:nvSpPr>
          <p:cNvPr id="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0" y="1984376"/>
            <a:ext cx="6130925" cy="36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Pearce et al. (2022): 1.689 programas em 89 cenários de segurança.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Cerca de 40% apresentaram vulnerabilidades nas condições do experimento.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O estudo inclui software e hardware.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A taxa não descreve todo uso do Copilot nem caracteriza suas versões atuais.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27EA7D42-E9EE-4971-8A9A-932222D64E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d4fd3bd854a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" name="Imagem 6">
            <a:extLst xmlns:a="http://schemas.openxmlformats.org/drawingml/2006/main">
              <a:ext uri="{FF2B5EF4-FFF2-40B4-BE49-F238E27FC236}">
                <a16:creationId xmlns:a16="http://schemas.microsoft.com/office/drawing/2014/main" id="{31766F3E-2E82-47C3-A3D6-6C3CE17517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7a9f7e8524a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98112" y="6154737"/>
            <a:ext cx="1341438" cy="403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625" y="844550"/>
            <a:ext cx="4262438" cy="1015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30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CONSIDERAÇÕES FINAIS</a:t>
            </a:r>
          </a:p>
        </p:txBody>
      </p:sp>
      <p:sp>
        <p:nvSpPr>
          <p:cNvPr id="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625" y="2208212"/>
            <a:ext cx="6130925" cy="36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A revisão precisa continuar após a geração.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Critérios propostos: compreender o código, conferir requisitos e buscar falhas.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Na formação: explicar as escolhas e os testes.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Limites: três estudos, tarefas delimitadas e versões antigas da ferramenta.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✓ Próximo passo: acompanhar projetos completos.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Título 1">
            <a:extLst xmlns:a="http://schemas.openxmlformats.org/drawingml/2006/main"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99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0EF7E76B-EAEF-4101-AA30-AD6C892A8F88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473ad30e4b34e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0" y="0"/>
            <a:ext cx="12192000" cy="6858000"/>
          </a:xfrm>
        </p:spPr>
      </p:pic>
      <p:sp>
        <p:nvSpPr>
          <p:cNvPr id="410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" y="2146301"/>
            <a:ext cx="6130925" cy="36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BARKE, S.; JAMES, M. B.; POLIKARPOVA, N. Grounded Copilot: How Programmers Interact with Code-Generating Models. PACMPL, v. 7, OOPSLA1, art. 78, 2023. DOI: 10.1145/3586030.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PEARCE, H. et al. Asleep at the Keyboard? Assessing the Security of GitHub Copilot’s Code Contributions. IEEE S&amp;P, p. 754-768, 2022. DOI: 10.1109/SP46214.2022.9833571.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VAITHILINGAM, P.; ZHANG, T.; GLASSMAN, E. Expectation vs. Experience: Evaluating the Usability of Code Generation Tools Powered by Large Language Models. CHI EA, 2022. DOI: 10.1145/3491101.3519665.</a:t>
            </a:r>
          </a:p>
        </p:txBody>
      </p:sp>
      <p:pic>
        <p:nvPicPr>
          <p:cNvPr id="8" name="Imagem 6">
            <a:extLst xmlns:a="http://schemas.openxmlformats.org/drawingml/2006/main">
              <a:ext uri="{FF2B5EF4-FFF2-40B4-BE49-F238E27FC236}">
                <a16:creationId xmlns:a16="http://schemas.microsoft.com/office/drawing/2014/main" id="{F3B757C3-E175-4987-9AA1-B12FA739B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283b219c84a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625" y="6030912"/>
            <a:ext cx="1341438" cy="403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Box 9">
            <a:extLst xmlns:a="http://schemas.openxmlformats.org/drawingml/2006/main"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06" y="844549"/>
            <a:ext cx="4262438" cy="1015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Bef>
                <a:spcPct val="50000"/>
              </a:spcBef>
              <a:buNone/>
            </a:pPr>
            <a:r>
              <a:rPr sz="3000" b="1">
                <a:solidFill>
                  <a:srgbClr val="153553"/>
                </a:solidFill>
                <a:latin typeface="Verdana"/>
                <a:ea typeface="Verdana"/>
                <a:cs typeface="Verdana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2" name="Título 1">
            <a:extLst xmlns:a="http://schemas.openxmlformats.org/drawingml/2006/main"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123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D722DC0B-341D-4286-8D4C-A0FED57ACCA6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c4c92863b1d140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</p:spPr>
      </p:pic>
      <p:sp>
        <p:nvSpPr>
          <p:cNvPr id="5124" name="Text Box 6">
            <a:extLst xmlns:a="http://schemas.openxmlformats.org/drawingml/2006/main"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71738"/>
            <a:ext cx="67056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defPPr>
              <a:defRPr sz="2700"/>
            </a:defPPr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ct val="50000"/>
              </a:spcBef>
              <a:buNone/>
              <a:defRPr sz="2700"/>
            </a:pPr>
            <a:r>
              <a:rPr sz="2700" i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Obrigado pela atenção!</a:t>
            </a:r>
            <a:endParaRPr sz="3200" i="1">
              <a:solidFill>
                <a:schemeClr val="bg1"/>
              </a:solidFill>
              <a:latin typeface="Verdana"/>
              <a:ea typeface="Verdana"/>
              <a:cs typeface="Verdana"/>
            </a:endParaRPr>
          </a:p>
          <a:p xmlns:a="http://schemas.openxmlformats.org/drawingml/2006/main">
            <a:pPr algn="ctr">
              <a:buNone/>
            </a:pPr>
            <a:r>
              <a:rPr sz="3200" i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/>
            </a:r>
            <a:endParaRPr sz="3200">
              <a:solidFill>
                <a:srgbClr val="002D55"/>
              </a:solidFill>
              <a:latin typeface="Verdana"/>
              <a:ea typeface="Verdana"/>
              <a:cs typeface="Verdana"/>
            </a:endParaRPr>
          </a:p>
          <a:p xmlns:a="http://schemas.openxmlformats.org/drawingml/2006/main">
            <a:pPr algn="ctr">
              <a:buNone/>
              <a:defRPr sz="2700"/>
            </a:pPr>
            <a:r>
              <a:rPr sz="2700" i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Perguntas e discussão</a:t>
            </a:r>
            <a:endParaRPr sz="3200">
              <a:solidFill>
                <a:srgbClr val="002D55"/>
              </a:solidFill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162934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0" name="Título 1">
            <a:extLst xmlns:a="http://schemas.openxmlformats.org/drawingml/2006/main"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171" name="Espaço Reservado para Conteúdo 4">
            <a:extLst xmlns:a="http://schemas.openxmlformats.org/drawingml/2006/main">
              <a:ext uri="{FF2B5EF4-FFF2-40B4-BE49-F238E27FC236}">
                <a16:creationId xmlns:a16="http://schemas.microsoft.com/office/drawing/2014/main" id="{213F6DFD-BB93-47A7-AB86-D7D399B5A3A0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8a885b2364db45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</p:spPr>
      </p:pic>
      <p:pic>
        <p:nvPicPr>
          <p:cNvPr id="7172" name="Imagem 6">
            <a:extLst xmlns:a="http://schemas.openxmlformats.org/drawingml/2006/main">
              <a:ext uri="{FF2B5EF4-FFF2-40B4-BE49-F238E27FC236}">
                <a16:creationId xmlns:a16="http://schemas.microsoft.com/office/drawing/2014/main" id="{085C2CCB-2F5A-4615-876C-46F517CD6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ca73556ff4d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6663" y="2763838"/>
            <a:ext cx="4433887" cy="1330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78257490"/>
      </p:ext>
    </p:extLst>
  </p:cSld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2026-10-15T17:49:33.5950000Z</dcterms:created>
  <dcterms:modified xsi:type="dcterms:W3CDTF">2026-10-15T17:49:33.5950000Z</dcterms:modified>
</coreProperties>
</file>